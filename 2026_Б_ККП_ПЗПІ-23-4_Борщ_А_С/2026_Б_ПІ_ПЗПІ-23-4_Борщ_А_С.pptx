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4"/>
  </p:notesMasterIdLst>
  <p:sldIdLst>
    <p:sldId id="256" r:id="rId5"/>
    <p:sldId id="257" r:id="rId6"/>
    <p:sldId id="271" r:id="rId7"/>
    <p:sldId id="258" r:id="rId8"/>
    <p:sldId id="272" r:id="rId9"/>
    <p:sldId id="259" r:id="rId10"/>
    <p:sldId id="273" r:id="rId11"/>
    <p:sldId id="260" r:id="rId12"/>
    <p:sldId id="261" r:id="rId13"/>
    <p:sldId id="274" r:id="rId14"/>
    <p:sldId id="262" r:id="rId15"/>
    <p:sldId id="275" r:id="rId16"/>
    <p:sldId id="263" r:id="rId17"/>
    <p:sldId id="277" r:id="rId18"/>
    <p:sldId id="278" r:id="rId19"/>
    <p:sldId id="280" r:id="rId20"/>
    <p:sldId id="265" r:id="rId21"/>
    <p:sldId id="281" r:id="rId22"/>
    <p:sldId id="267" r:id="rId2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5"/>
    </p:embeddedFont>
    <p:embeddedFont>
      <p:font typeface="Economica" panose="020B0604020202020204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7D2469-5299-4970-9F60-C09064E7CE9B}" v="158" dt="2026-06-09T19:36:23.1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22DA8C32-1251-2065-E1F9-E4955F812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>
            <a:extLst>
              <a:ext uri="{FF2B5EF4-FFF2-40B4-BE49-F238E27FC236}">
                <a16:creationId xmlns:a16="http://schemas.microsoft.com/office/drawing/2014/main" id="{08CAFE4D-734F-CD94-DF0D-21E8E12EA6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>
            <a:extLst>
              <a:ext uri="{FF2B5EF4-FFF2-40B4-BE49-F238E27FC236}">
                <a16:creationId xmlns:a16="http://schemas.microsoft.com/office/drawing/2014/main" id="{66399601-E0C9-131C-5853-CB6BB88BA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566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856BE280-6C81-4B40-95B0-626A6BAD3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>
            <a:extLst>
              <a:ext uri="{FF2B5EF4-FFF2-40B4-BE49-F238E27FC236}">
                <a16:creationId xmlns:a16="http://schemas.microsoft.com/office/drawing/2014/main" id="{F65E85B8-E39A-34EF-14E8-4E487D801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>
            <a:extLst>
              <a:ext uri="{FF2B5EF4-FFF2-40B4-BE49-F238E27FC236}">
                <a16:creationId xmlns:a16="http://schemas.microsoft.com/office/drawing/2014/main" id="{E3705BF5-3914-FC15-1601-2DD28F751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127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B5971C0D-A53D-0A18-2EAC-681BB6002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>
            <a:extLst>
              <a:ext uri="{FF2B5EF4-FFF2-40B4-BE49-F238E27FC236}">
                <a16:creationId xmlns:a16="http://schemas.microsoft.com/office/drawing/2014/main" id="{B87BE858-8FB1-E25B-9775-88FDC2714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>
            <a:extLst>
              <a:ext uri="{FF2B5EF4-FFF2-40B4-BE49-F238E27FC236}">
                <a16:creationId xmlns:a16="http://schemas.microsoft.com/office/drawing/2014/main" id="{CFCD9E03-8476-0028-CA55-60579910B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3398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533E9580-61CF-D45E-E065-2940BC43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E217B098-33C1-5A8F-BCD2-67D696860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57D8C588-B3E4-6342-1D1B-A8EA0F54D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660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F4BFB8E8-8225-FD7F-B67D-ECCEDED3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>
            <a:extLst>
              <a:ext uri="{FF2B5EF4-FFF2-40B4-BE49-F238E27FC236}">
                <a16:creationId xmlns:a16="http://schemas.microsoft.com/office/drawing/2014/main" id="{2A4A2C8F-B6A5-EB36-49D1-5C499718C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>
            <a:extLst>
              <a:ext uri="{FF2B5EF4-FFF2-40B4-BE49-F238E27FC236}">
                <a16:creationId xmlns:a16="http://schemas.microsoft.com/office/drawing/2014/main" id="{ABF95B8F-C405-2907-825F-375B7DFEF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5705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A4DCA290-4AB8-2851-51BF-4FB16619B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>
            <a:extLst>
              <a:ext uri="{FF2B5EF4-FFF2-40B4-BE49-F238E27FC236}">
                <a16:creationId xmlns:a16="http://schemas.microsoft.com/office/drawing/2014/main" id="{0FF3A56D-8EC2-8D48-AB78-37C030DDE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>
            <a:extLst>
              <a:ext uri="{FF2B5EF4-FFF2-40B4-BE49-F238E27FC236}">
                <a16:creationId xmlns:a16="http://schemas.microsoft.com/office/drawing/2014/main" id="{0C66F20E-D9FC-4436-1947-2229757A5E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694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B33199BB-E918-5F77-F281-895FE5E6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F205C210-6042-F504-09FC-B9153C415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7D7E255F-DDFE-F095-8A0C-CEE889F294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2312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4BA344C-DD10-5BFF-6F77-5BBC074FD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BD084189-93D5-C4F3-7F54-DA86A6106B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120A17F3-3461-8601-47F2-CBB1DB3C6C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7384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88B81988-6E2E-8FB9-BDCA-16CB49C1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D9F0EE0F-0E8A-031E-4F06-74F0699FF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8FDBBC8B-C124-AE7B-AEA4-CC1B41511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0666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69512" y="1335419"/>
            <a:ext cx="3868111" cy="15915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uk-UA" sz="2400" dirty="0"/>
              <a:t>Програмна система проходження технічних співбесід з ШІ </a:t>
            </a:r>
            <a:r>
              <a:rPr lang="uk-UA" sz="2400" dirty="0" err="1"/>
              <a:t>переформулюванням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065378" y="3439975"/>
            <a:ext cx="5899802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 dirty="0"/>
              <a:t>Борщ Анатолій Сергійович, ПЗПІ-23-4</a:t>
            </a: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 dirty="0"/>
              <a:t>Керівник:ст. </a:t>
            </a:r>
            <a:r>
              <a:rPr lang="uk-UA" sz="1200" dirty="0"/>
              <a:t>в</a:t>
            </a:r>
            <a:r>
              <a:rPr lang="uk" sz="1200" dirty="0"/>
              <a:t>ик. кафедри ПІ Широкопєтлєва Марія Сергіївна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 dirty="0"/>
              <a:t>10 червня 2026</a:t>
            </a:r>
            <a:endParaRPr sz="1200"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717047"/>
            <a:ext cx="8520600" cy="38621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роботи: Розробити програмну систему автоматизації підготовки до технічних співбесід, що забезпечує симуляцію реального усного інтерв'ю з динамічною генерацією питань, адаптацію до обраного технологічного напряму та рівня кваліфікації кандидата, а також механізм відстеження та повторення слабких тем для персоналізації підготовки.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Актуальність:</a:t>
            </a:r>
            <a:endParaRPr lang="uk-UA" altLang="uk-U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"/>
            </a:pPr>
            <a:r>
              <a:rPr lang="uk-UA" altLang="uk-U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зростання конкуренції на ринку праці у галузі інформаційних технологій та підвищення вимог до кандидатів;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більшість безкоштовних платформ пропонують лише статичні банки питань без адаптації до рівня кандидата; </a:t>
            </a:r>
            <a:endParaRPr lang="en-US" altLang="uk-U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якісні платформи з живими інтерв'юерами є фінансово недоступними для більшості; </a:t>
            </a:r>
            <a:endParaRPr lang="en-US" altLang="uk-U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жодна платформа не поєднує динамічну генерацію питань, механізм слабких тем; </a:t>
            </a:r>
            <a:endParaRPr lang="en-US" altLang="uk-U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поява великих мовних моделей відкрила можливість створення доступного AI-інтерв'юера без залучення реальних спеціалістів. </a:t>
            </a:r>
          </a:p>
          <a:p>
            <a:pPr marL="0" lvl="0" indent="0">
              <a:spcBef>
                <a:spcPts val="1200"/>
              </a:spcBef>
              <a:buNone/>
            </a:pP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200"/>
              </a:spcBef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08" y="4426453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5910024E-B644-EEB2-E181-703090C9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6CB04E8-38A1-CCF8-048B-19A3221A2E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А</a:t>
            </a:r>
            <a:r>
              <a:rPr lang="uk" sz="3200" dirty="0"/>
              <a:t>наліз існуючих рішень </a:t>
            </a:r>
            <a:endParaRPr sz="3200" dirty="0"/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51D5CB92-FC0C-4DE9-E2F3-21681D4E8C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1769" y="7910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Досліджені аналоги</a:t>
            </a:r>
            <a:endParaRPr lang="en-US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endParaRPr lang="uk-UA" altLang="uk-UA" dirty="0">
              <a:solidFill>
                <a:schemeClr val="tx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uk-UA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altLang="uk-UA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r>
              <a:rPr lang="uk-UA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AI - комплексна AI-платформа, висока вартість, відсутня локалізація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Exponent</a:t>
            </a:r>
            <a:r>
              <a:rPr lang="uk-UA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uk-UA" altLang="uk-UA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peer-to-peer</a:t>
            </a:r>
            <a:r>
              <a:rPr lang="uk-UA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практика, відсутній компонент штучного інтелекту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Interviewing.io - реальні інженери FAANG, висока вартість, недоступно для початківців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uk-UA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велика база статичних питань, відсутній зворотний зв'язок </a:t>
            </a:r>
          </a:p>
          <a:p>
            <a:pPr marL="0" lvl="0" indent="0">
              <a:spcBef>
                <a:spcPts val="1500"/>
              </a:spcBef>
              <a:buNone/>
            </a:pPr>
            <a:endParaRPr lang="ru-RU" dirty="0">
              <a:highlight>
                <a:srgbClr val="FFFFFF"/>
              </a:highlight>
            </a:endParaRPr>
          </a:p>
        </p:txBody>
      </p:sp>
      <p:pic>
        <p:nvPicPr>
          <p:cNvPr id="80" name="Google Shape;80;p15">
            <a:extLst>
              <a:ext uri="{FF2B5EF4-FFF2-40B4-BE49-F238E27FC236}">
                <a16:creationId xmlns:a16="http://schemas.microsoft.com/office/drawing/2014/main" id="{D8A58292-6157-DF7D-5A1F-F326528C4F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0A8F9E-DA5F-12EF-83E5-DE40A91A9F43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05832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011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Прогалини у наявних аналогах</a:t>
            </a:r>
            <a:r>
              <a:rPr lang="en-US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k-UA" altLang="uk-UA" dirty="0">
              <a:solidFill>
                <a:schemeClr val="tx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жодна платформа не має можливості подати питання на розгляд перед додаванням в систему;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відсутній механізм відстеження та повторення слабких тем між сесіями;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більшість платформ орієнтовані виключно на англомовну аудиторію;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цінова модель є або занадто обмеженою</a:t>
            </a:r>
            <a:r>
              <a:rPr lang="en-US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або фінансово недоступною</a:t>
            </a:r>
            <a:r>
              <a:rPr lang="en-US" altLang="uk-UA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altLang="uk-UA" dirty="0">
              <a:solidFill>
                <a:schemeClr val="tx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45822DB2-3F99-43AE-5588-4A9B526E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5E0148D1-0ADE-BB2F-1F06-0DC4013E4F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</a:t>
            </a:r>
            <a:endParaRPr sz="3200" dirty="0"/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0B09278E-1A22-4302-DBA7-63697B959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5381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Порівняльна характеристика аналогів системи </a:t>
            </a:r>
            <a:endParaRPr lang="en-US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uk-UA" altLang="uk-UA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pic>
        <p:nvPicPr>
          <p:cNvPr id="80" name="Google Shape;80;p15">
            <a:extLst>
              <a:ext uri="{FF2B5EF4-FFF2-40B4-BE49-F238E27FC236}">
                <a16:creationId xmlns:a16="http://schemas.microsoft.com/office/drawing/2014/main" id="{D8CEC2D8-99FE-4C4C-82DE-6DE47DF1CA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36391F-3CB7-BB76-B796-072BDC0505D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0E4FC466-AA0A-F681-2B6F-467A7505A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696351"/>
              </p:ext>
            </p:extLst>
          </p:nvPr>
        </p:nvGraphicFramePr>
        <p:xfrm>
          <a:off x="1131175" y="1111999"/>
          <a:ext cx="7358730" cy="3071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9952">
                  <a:extLst>
                    <a:ext uri="{9D8B030D-6E8A-4147-A177-3AD203B41FA5}">
                      <a16:colId xmlns:a16="http://schemas.microsoft.com/office/drawing/2014/main" val="2039965548"/>
                    </a:ext>
                  </a:extLst>
                </a:gridCol>
                <a:gridCol w="1479663">
                  <a:extLst>
                    <a:ext uri="{9D8B030D-6E8A-4147-A177-3AD203B41FA5}">
                      <a16:colId xmlns:a16="http://schemas.microsoft.com/office/drawing/2014/main" val="352595773"/>
                    </a:ext>
                  </a:extLst>
                </a:gridCol>
                <a:gridCol w="960770">
                  <a:extLst>
                    <a:ext uri="{9D8B030D-6E8A-4147-A177-3AD203B41FA5}">
                      <a16:colId xmlns:a16="http://schemas.microsoft.com/office/drawing/2014/main" val="274628786"/>
                    </a:ext>
                  </a:extLst>
                </a:gridCol>
                <a:gridCol w="1463430">
                  <a:extLst>
                    <a:ext uri="{9D8B030D-6E8A-4147-A177-3AD203B41FA5}">
                      <a16:colId xmlns:a16="http://schemas.microsoft.com/office/drawing/2014/main" val="13809023"/>
                    </a:ext>
                  </a:extLst>
                </a:gridCol>
                <a:gridCol w="1464915">
                  <a:extLst>
                    <a:ext uri="{9D8B030D-6E8A-4147-A177-3AD203B41FA5}">
                      <a16:colId xmlns:a16="http://schemas.microsoft.com/office/drawing/2014/main" val="3678907928"/>
                    </a:ext>
                  </a:extLst>
                </a:gridCol>
              </a:tblGrid>
              <a:tr h="1538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dirty="0">
                          <a:effectLst/>
                        </a:rPr>
                        <a:t>Характеристика</a:t>
                      </a:r>
                      <a:endParaRPr lang="uk-U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Final Round AI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Exponent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Interviewing.io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GeeksforGeeks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extLst>
                  <a:ext uri="{0D108BD9-81ED-4DB2-BD59-A6C34878D82A}">
                    <a16:rowId xmlns:a16="http://schemas.microsoft.com/office/drawing/2014/main" val="190592857"/>
                  </a:ext>
                </a:extLst>
              </a:tr>
              <a:tr h="2488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>
                          <a:effectLst/>
                        </a:rPr>
                        <a:t>Голосовий режим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extLst>
                  <a:ext uri="{0D108BD9-81ED-4DB2-BD59-A6C34878D82A}">
                    <a16:rowId xmlns:a16="http://schemas.microsoft.com/office/drawing/2014/main" val="1865754587"/>
                  </a:ext>
                </a:extLst>
              </a:tr>
              <a:tr h="52752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>
                          <a:effectLst/>
                        </a:rPr>
                        <a:t>Зворотний зв’язок на відповіді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extLst>
                  <a:ext uri="{0D108BD9-81ED-4DB2-BD59-A6C34878D82A}">
                    <a16:rowId xmlns:a16="http://schemas.microsoft.com/office/drawing/2014/main" val="3973915330"/>
                  </a:ext>
                </a:extLst>
              </a:tr>
              <a:tr h="2488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>
                          <a:effectLst/>
                        </a:rPr>
                        <a:t>Адаптивна складність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extLst>
                  <a:ext uri="{0D108BD9-81ED-4DB2-BD59-A6C34878D82A}">
                    <a16:rowId xmlns:a16="http://schemas.microsoft.com/office/drawing/2014/main" val="1802706358"/>
                  </a:ext>
                </a:extLst>
              </a:tr>
              <a:tr h="2488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>
                          <a:effectLst/>
                        </a:rPr>
                        <a:t>Вибір напряму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+/-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+/-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extLst>
                  <a:ext uri="{0D108BD9-81ED-4DB2-BD59-A6C34878D82A}">
                    <a16:rowId xmlns:a16="http://schemas.microsoft.com/office/drawing/2014/main" val="106629230"/>
                  </a:ext>
                </a:extLst>
              </a:tr>
              <a:tr h="52752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dirty="0">
                          <a:effectLst/>
                        </a:rPr>
                        <a:t>Аналітика прогресу</a:t>
                      </a:r>
                      <a:endParaRPr lang="uk-U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+/-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+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extLst>
                  <a:ext uri="{0D108BD9-81ED-4DB2-BD59-A6C34878D82A}">
                    <a16:rowId xmlns:a16="http://schemas.microsoft.com/office/drawing/2014/main" val="4103949142"/>
                  </a:ext>
                </a:extLst>
              </a:tr>
              <a:tr h="2488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>
                          <a:effectLst/>
                        </a:rPr>
                        <a:t>Повторення слабких тем</a:t>
                      </a:r>
                      <a:endParaRPr lang="uk-U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extLst>
                  <a:ext uri="{0D108BD9-81ED-4DB2-BD59-A6C34878D82A}">
                    <a16:rowId xmlns:a16="http://schemas.microsoft.com/office/drawing/2014/main" val="2097702538"/>
                  </a:ext>
                </a:extLst>
              </a:tr>
              <a:tr h="2488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dirty="0">
                          <a:effectLst/>
                        </a:rPr>
                        <a:t>Підтримка локалізації</a:t>
                      </a:r>
                      <a:endParaRPr lang="uk-U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-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extLst>
                  <a:ext uri="{0D108BD9-81ED-4DB2-BD59-A6C34878D82A}">
                    <a16:rowId xmlns:a16="http://schemas.microsoft.com/office/drawing/2014/main" val="4203307234"/>
                  </a:ext>
                </a:extLst>
              </a:tr>
              <a:tr h="52752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dirty="0">
                          <a:effectLst/>
                        </a:rPr>
                        <a:t>Орієнтовна вартість</a:t>
                      </a:r>
                      <a:endParaRPr lang="uk-U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99$ на місяць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0$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>
                          <a:effectLst/>
                        </a:rPr>
                        <a:t>225$ за сесію</a:t>
                      </a:r>
                      <a:endParaRPr lang="uk-UA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200" dirty="0">
                          <a:effectLst/>
                        </a:rPr>
                        <a:t>0$</a:t>
                      </a:r>
                      <a:endParaRPr lang="uk-UA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3" marR="59713" marT="0" marB="0"/>
                </a:tc>
                <a:extLst>
                  <a:ext uri="{0D108BD9-81ED-4DB2-BD59-A6C34878D82A}">
                    <a16:rowId xmlns:a16="http://schemas.microsoft.com/office/drawing/2014/main" val="3678356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11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57640" y="229374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Bef>
                <a:spcPts val="1500"/>
              </a:spcBef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Метою є розробка програмної системи автоматизації підготовки до симуляції технічних співбесід з наявністю графічного інтерфейсу.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500"/>
              </a:spcBef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повинна складатися з трьох основних компонентів: серверної частини, клієнтського застосунку та підсистему оцінки відповідей.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500"/>
              </a:spcBef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системі повинно передбачатися дві ролі - адміністратор та користувач - з відповідним розмежуванням прав доступу. </a:t>
            </a:r>
          </a:p>
          <a:p>
            <a:pPr marL="0" lvl="0" indent="0">
              <a:spcBef>
                <a:spcPts val="1500"/>
              </a:spcBef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E23AFC03-907A-6489-9F47-543B224B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8B997C8E-2AA8-324A-187F-8B1E9458E3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7B0D0EAA-FA3A-C992-5EE6-5C779F9B1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666" y="825262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Очікувані результати</a:t>
            </a:r>
            <a:endParaRPr lang="en-US" b="1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uk-UA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Користувач:</a:t>
            </a:r>
            <a:endParaRPr lang="uk-UA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9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реєстрація та авторизація, у тому числі через </a:t>
            </a:r>
            <a:r>
              <a:rPr lang="en-US" sz="19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Google;</a:t>
            </a: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9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налаштування профілю підготовки (напрям, рівень, складність);</a:t>
            </a: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9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перегляд та фільтрація бази питань;</a:t>
            </a: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9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тестової сесії з </a:t>
            </a:r>
            <a:r>
              <a:rPr lang="en-US" sz="19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uk-UA" sz="19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оцінкою відповідей та уточнюючими питаннями;</a:t>
            </a: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9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перегляд історії сесій та відстеження прогресу.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uk-UA" sz="1900" dirty="0">
              <a:solidFill>
                <a:schemeClr val="tx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uk-UA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Адміністратор:</a:t>
            </a:r>
            <a:endParaRPr lang="uk-UA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9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модерація</a:t>
            </a:r>
            <a:r>
              <a:rPr lang="uk-UA" sz="19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та верифікація питань перед публікацією;</a:t>
            </a: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9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 категоріями, тегами та рівнями складності;</a:t>
            </a: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9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 обліковими записами користувачів.</a:t>
            </a:r>
          </a:p>
        </p:txBody>
      </p:sp>
      <p:pic>
        <p:nvPicPr>
          <p:cNvPr id="87" name="Google Shape;87;p16">
            <a:extLst>
              <a:ext uri="{FF2B5EF4-FFF2-40B4-BE49-F238E27FC236}">
                <a16:creationId xmlns:a16="http://schemas.microsoft.com/office/drawing/2014/main" id="{0B15AAED-8D78-D2B5-AC87-A6CC3578A8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DAA825-2DBC-8242-21FC-D8782C21B27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2AC0B95-67A4-56F4-4860-141DC35FB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741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916484" y="886130"/>
            <a:ext cx="2649214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dirty="0">
                <a:latin typeface="Economica" panose="020B0604020202020204" charset="0"/>
              </a:rPr>
              <a:t>Серверна частина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sp>
        <p:nvSpPr>
          <p:cNvPr id="3" name="Google Shape;93;p17">
            <a:extLst>
              <a:ext uri="{FF2B5EF4-FFF2-40B4-BE49-F238E27FC236}">
                <a16:creationId xmlns:a16="http://schemas.microsoft.com/office/drawing/2014/main" id="{960BC929-AB82-C4E2-BB74-E855BDADCCED}"/>
              </a:ext>
            </a:extLst>
          </p:cNvPr>
          <p:cNvSpPr txBox="1">
            <a:spLocks/>
          </p:cNvSpPr>
          <p:nvPr/>
        </p:nvSpPr>
        <p:spPr>
          <a:xfrm>
            <a:off x="5794736" y="844245"/>
            <a:ext cx="2649214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spcBef>
                <a:spcPts val="1500"/>
              </a:spcBef>
              <a:spcAft>
                <a:spcPts val="1200"/>
              </a:spcAft>
              <a:buFont typeface="Open Sans"/>
              <a:buNone/>
            </a:pPr>
            <a:r>
              <a:rPr lang="uk-UA" dirty="0">
                <a:latin typeface="Economica" panose="020B0604020202020204" charset="0"/>
              </a:rPr>
              <a:t>Клієнтська частина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E9CC3CF-D79A-22BE-34F1-1070EC3EB4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83429" y="2419349"/>
            <a:ext cx="1240971" cy="124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2195550A-D23F-B3C5-15A8-241E6F678D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237" y="1758041"/>
            <a:ext cx="1240971" cy="124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D20202-FBA6-9B59-5861-09E13B035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37" y="2224860"/>
            <a:ext cx="862251" cy="862251"/>
          </a:xfrm>
          <a:prstGeom prst="rect">
            <a:avLst/>
          </a:prstGeom>
        </p:spPr>
      </p:pic>
      <p:pic>
        <p:nvPicPr>
          <p:cNvPr id="1030" name="Picture 6" descr="Features of ASP.NET - Host4ASP">
            <a:extLst>
              <a:ext uri="{FF2B5EF4-FFF2-40B4-BE49-F238E27FC236}">
                <a16:creationId xmlns:a16="http://schemas.microsoft.com/office/drawing/2014/main" id="{59A642E7-8C53-9956-2DED-4FFD34462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35" y="1557811"/>
            <a:ext cx="1575254" cy="973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act Vector Icons free download in SVG, PNG Format">
            <a:extLst>
              <a:ext uri="{FF2B5EF4-FFF2-40B4-BE49-F238E27FC236}">
                <a16:creationId xmlns:a16="http://schemas.microsoft.com/office/drawing/2014/main" id="{36044C60-039E-8954-0C47-709381074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944" y="1689888"/>
            <a:ext cx="926682" cy="92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ypescript - Free logo icons">
            <a:extLst>
              <a:ext uri="{FF2B5EF4-FFF2-40B4-BE49-F238E27FC236}">
                <a16:creationId xmlns:a16="http://schemas.microsoft.com/office/drawing/2014/main" id="{64DC09FE-9BD4-67CF-E8F8-92C118329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239" y="2063061"/>
            <a:ext cx="630930" cy="63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ailwind CSS Icon SVG Vector &amp; PNG Free Download | UXWing">
            <a:extLst>
              <a:ext uri="{FF2B5EF4-FFF2-40B4-BE49-F238E27FC236}">
                <a16:creationId xmlns:a16="http://schemas.microsoft.com/office/drawing/2014/main" id="{98647BDF-66A7-41D6-45AD-1112AB30F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872" y="1689888"/>
            <a:ext cx="772432" cy="77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ython icon - Free download on Iconfinder">
            <a:extLst>
              <a:ext uri="{FF2B5EF4-FFF2-40B4-BE49-F238E27FC236}">
                <a16:creationId xmlns:a16="http://schemas.microsoft.com/office/drawing/2014/main" id="{47B03C6B-892E-DF23-0F19-286C73A51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656" y="1949184"/>
            <a:ext cx="642521" cy="64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ervice Config | gRPC">
            <a:extLst>
              <a:ext uri="{FF2B5EF4-FFF2-40B4-BE49-F238E27FC236}">
                <a16:creationId xmlns:a16="http://schemas.microsoft.com/office/drawing/2014/main" id="{99BB6022-736F-7FF1-28F5-FCB02050A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81" y="3167739"/>
            <a:ext cx="862251" cy="86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Mastering RESTful API Design with Node.js and Express: A Backend ...">
            <a:extLst>
              <a:ext uri="{FF2B5EF4-FFF2-40B4-BE49-F238E27FC236}">
                <a16:creationId xmlns:a16="http://schemas.microsoft.com/office/drawing/2014/main" id="{8D5F0293-ECED-E258-7E11-4296F1547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361" y="2853105"/>
            <a:ext cx="642104" cy="50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파일의 유형 swagger - 파일 및 폴더 아이콘">
            <a:extLst>
              <a:ext uri="{FF2B5EF4-FFF2-40B4-BE49-F238E27FC236}">
                <a16:creationId xmlns:a16="http://schemas.microsoft.com/office/drawing/2014/main" id="{0A16796D-5EDD-A3FD-C914-AE9002D6C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544" y="2819667"/>
            <a:ext cx="8667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Ollama Logo PNG Vector (SVG) Free Download">
            <a:extLst>
              <a:ext uri="{FF2B5EF4-FFF2-40B4-BE49-F238E27FC236}">
                <a16:creationId xmlns:a16="http://schemas.microsoft.com/office/drawing/2014/main" id="{AB49C12C-6187-4087-C25D-E3E75C445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170" y="3598484"/>
            <a:ext cx="926682" cy="92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Websocket Vector SVG Icon - SVG Repo">
            <a:extLst>
              <a:ext uri="{FF2B5EF4-FFF2-40B4-BE49-F238E27FC236}">
                <a16:creationId xmlns:a16="http://schemas.microsoft.com/office/drawing/2014/main" id="{A7AA581B-2032-8A95-27C7-046629003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261" y="2853105"/>
            <a:ext cx="728889" cy="72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xios logo - free Icon PNG, SVG">
            <a:extLst>
              <a:ext uri="{FF2B5EF4-FFF2-40B4-BE49-F238E27FC236}">
                <a16:creationId xmlns:a16="http://schemas.microsoft.com/office/drawing/2014/main" id="{A60A048E-EBC9-528B-B2D5-9F3632768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649" y="3067356"/>
            <a:ext cx="630929" cy="630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PostgreSQL Logo / Software / Logonoid.com">
            <a:extLst>
              <a:ext uri="{FF2B5EF4-FFF2-40B4-BE49-F238E27FC236}">
                <a16:creationId xmlns:a16="http://schemas.microsoft.com/office/drawing/2014/main" id="{370BF239-014C-3D2A-1562-A6A9D13C2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522" y="3660320"/>
            <a:ext cx="1096282" cy="121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260033" y="1009050"/>
            <a:ext cx="8615042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Програмна система складається з шести компонентів розгорнутих у </a:t>
            </a: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Docker-</a:t>
            </a: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контейнерах. Клієнтська частина обробляє дії користувача та при потребі надсилає </a:t>
            </a: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REST-</a:t>
            </a: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запити до серверної частини. Під час активної сесії клієнт встановлює пряме </a:t>
            </a: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WebSocket-</a:t>
            </a: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з'єднання з компонентом штучного інтелекту. Серверна частина отримує запити, виконує бізнес-логіку та взаємодіє з базою даних і менеджером воркерів. Менеджер воркерів керує запуском контейнерів компонента ШІ через </a:t>
            </a:r>
            <a:r>
              <a:rPr lang="en-US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ШІ обробляє сесію та надсилає запити до сервера </a:t>
            </a:r>
            <a:r>
              <a:rPr lang="en-US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4B95CA-EDED-D309-441B-15C1D36EFE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570" y="2571908"/>
            <a:ext cx="7209955" cy="20784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2D8DBB2C-2653-1755-6C68-651B76726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43606628-2C3D-A844-2CCD-6267D1A18A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7640" y="16444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>
            <a:extLst>
              <a:ext uri="{FF2B5EF4-FFF2-40B4-BE49-F238E27FC236}">
                <a16:creationId xmlns:a16="http://schemas.microsoft.com/office/drawing/2014/main" id="{143A8A05-805A-5FA6-CE44-24DAE3A739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4172" y="765309"/>
            <a:ext cx="4349940" cy="40824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 основних компонентів системи:</a:t>
            </a:r>
          </a:p>
          <a:p>
            <a:pPr marL="285750" lvl="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QuestionRephraseService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Приймає запити на перефразування конкретного опублікованого питання, читає оригінальний текст з PostgreSQL і передає виклик до LLM через внутрішній </a:t>
            </a: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API.</a:t>
            </a:r>
          </a:p>
          <a:p>
            <a:pPr marL="285750" lvl="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QuestionSelectionService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формує персоналізований набір питань для сесії, використовуючи двоетапну логіку вибірки.</a:t>
            </a:r>
          </a:p>
          <a:p>
            <a:pPr marL="285750" lvl="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SessionTokenService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– створює підписаний токен сесії з вбудованим часом завершення.</a:t>
            </a:r>
          </a:p>
          <a:p>
            <a:pPr marL="285750" lvl="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WorkerManagerClient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надсилає команди додавання та звільнення воркерів, отримує у відповідь мережеву адресу виділеного контейнера і його </a:t>
            </a: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WebSocket-ендпоінт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ManagerService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приймає </a:t>
            </a: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-команди від </a:t>
            </a: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WorkerManagerClient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у .NET-серверу. Координує роботу </a:t>
            </a: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PortAllocator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DockerManager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ContainerRegistry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Відповідає за обробку запитів на створення та звільнення воркерів, а також на масштабування пулів.</a:t>
            </a:r>
          </a:p>
          <a:p>
            <a:pPr marL="285750" lvl="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PortAllocator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виділяє вільні мережеві порти для нових </a:t>
            </a: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worker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-контейнерів.</a:t>
            </a:r>
          </a:p>
          <a:p>
            <a:pPr marL="285750" lvl="0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DockerManager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взаємодіє з </a:t>
            </a: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0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lang="uk-UA" sz="10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API для створення, запуску і зупинки контейнерів.</a:t>
            </a:r>
          </a:p>
          <a:p>
            <a:pPr lvl="0"/>
            <a:endParaRPr lang="uk-UA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500"/>
              </a:spcBef>
              <a:buNone/>
            </a:pPr>
            <a:endParaRPr lang="uk-UA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500"/>
              </a:spcBef>
              <a:buNone/>
            </a:pP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3425548B-DE4C-B23D-C29A-4D3EF28F4A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166" y="50686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485D78-00E4-A2DF-F634-63542609C39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91CD42-5663-2A77-1C33-5C46AB51F3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112" y="1081313"/>
            <a:ext cx="4538180" cy="3353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135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Інструменти, мови програмування, фреймворки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252349"/>
            <a:ext cx="3665214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Інструменти розробки: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en-US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VisualStudioCode</a:t>
            </a: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серверної</a:t>
            </a:r>
            <a:r>
              <a:rPr lang="ru-RU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частини</a:t>
            </a: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uk-UA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кліентської</a:t>
            </a: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частини</a:t>
            </a:r>
            <a:endParaRPr lang="en-US" sz="14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500"/>
              </a:spcBef>
              <a:buNone/>
            </a:pP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r>
              <a:rPr lang="en-US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Descktop</a:t>
            </a: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локальне</a:t>
            </a:r>
            <a:r>
              <a:rPr lang="ru-RU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розгортання</a:t>
            </a:r>
            <a:r>
              <a:rPr lang="ru-RU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lang="ru-RU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контейнерів</a:t>
            </a:r>
            <a:endParaRPr lang="en-US" sz="14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500"/>
              </a:spcBef>
              <a:buNone/>
            </a:pP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Draw.io</a:t>
            </a: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проєктування </a:t>
            </a: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</a:t>
            </a:r>
            <a:endParaRPr lang="en-US" sz="14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1500"/>
              </a:spcBef>
              <a:buNone/>
            </a:pP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Swagger</a:t>
            </a: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 тестування </a:t>
            </a: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sp>
        <p:nvSpPr>
          <p:cNvPr id="3" name="Google Shape;107;p19">
            <a:extLst>
              <a:ext uri="{FF2B5EF4-FFF2-40B4-BE49-F238E27FC236}">
                <a16:creationId xmlns:a16="http://schemas.microsoft.com/office/drawing/2014/main" id="{96571D68-BE0F-4C3B-3EFC-A49AD32031CA}"/>
              </a:ext>
            </a:extLst>
          </p:cNvPr>
          <p:cNvSpPr txBox="1">
            <a:spLocks/>
          </p:cNvSpPr>
          <p:nvPr/>
        </p:nvSpPr>
        <p:spPr>
          <a:xfrm>
            <a:off x="4172500" y="1234698"/>
            <a:ext cx="4889792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spcBef>
                <a:spcPts val="1500"/>
              </a:spcBef>
              <a:buNone/>
            </a:pP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Мови програмування та фреймворки:</a:t>
            </a:r>
          </a:p>
          <a:p>
            <a:pPr marL="0" indent="0">
              <a:spcBef>
                <a:spcPts val="1500"/>
              </a:spcBef>
              <a:buNone/>
            </a:pP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 частина: </a:t>
            </a: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lang="uk-UA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ASP.NET Core, .NET 8, EF Core 8</a:t>
            </a:r>
            <a:endParaRPr lang="uk-UA" sz="14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5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Клієнтський застосунок: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19, Tailwind CSS 4,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Zustand</a:t>
            </a: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5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ШІ: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3.12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WebSocket</a:t>
            </a: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5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Менеджмент контейнерів: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3.12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SDK,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5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Розгортання: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Compose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EB2AA24-4F66-D275-09F0-112BC6E22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4779402B-8D92-82D8-111B-EF5483CA01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uk-UA" sz="32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Процес розробки</a:t>
            </a:r>
            <a:endParaRPr sz="3200" dirty="0"/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id="{E8C5509B-2197-CA91-72DB-F6275EA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15135"/>
            <a:ext cx="8672643" cy="38782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15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 велась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ітераційно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>
              <a:lnSpc>
                <a:spcPct val="100000"/>
              </a:lnSpc>
              <a:spcBef>
                <a:spcPts val="15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першому етапі проведено аналіз предметної галузі, досліджено аналоги та сформульовано функціональні й нефункціональні вимоги до системи. </a:t>
            </a:r>
          </a:p>
          <a:p>
            <a:pPr marL="0" lvl="0" indent="0">
              <a:lnSpc>
                <a:spcPct val="100000"/>
              </a:lnSpc>
              <a:spcBef>
                <a:spcPts val="15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другому етапі спроєктовано архітектуру системи, побудовано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діаграми прецедентів, послідовності та компонентів, а також спроєктовано структуру бази даних. </a:t>
            </a:r>
          </a:p>
          <a:p>
            <a:pPr marL="0" lvl="0" indent="0">
              <a:lnSpc>
                <a:spcPct val="100000"/>
              </a:lnSpc>
              <a:spcBef>
                <a:spcPts val="15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третьому етапі розроблено серверну частину: реалізовано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API, 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автентифікацію, бізнес-логіку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оркестрації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сесій та механізм слабких тем. Паралельно розроблявся клієнтський застосунок з усіма сторінками та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WebSocket-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взаємодією. </a:t>
            </a:r>
          </a:p>
          <a:p>
            <a:pPr marL="0" lvl="0" indent="0">
              <a:lnSpc>
                <a:spcPct val="100000"/>
              </a:lnSpc>
              <a:spcBef>
                <a:spcPts val="15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четвертому етапі розроблено компонент штучного інтелекту та менеджер воркерів, налаштовано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контракти та інтегровано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uk-UA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1500"/>
              </a:spcBef>
              <a:buNone/>
            </a:pP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завершальному етапі проведено інтеграційне тестування всіх компонентів у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Compose 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середовищі.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Google Shape;108;p19">
            <a:extLst>
              <a:ext uri="{FF2B5EF4-FFF2-40B4-BE49-F238E27FC236}">
                <a16:creationId xmlns:a16="http://schemas.microsoft.com/office/drawing/2014/main" id="{9BECC25A-5AEE-1D4A-DFC1-94B9490F71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08" y="4469362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A03148-3E26-B365-18A3-82F2747ED8B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06060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68925" y="894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>
              <a:buNone/>
            </a:pP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Патерни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принципи проєктування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Чиста архітектура. 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 частина побудована за принципами чистої архітектури</a:t>
            </a:r>
            <a:r>
              <a:rPr lang="en-US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доменний шар не залежить від жодного зовнішньої бібліотеки, а залежності спрямовані лише від зовнішніх шарів до внутрішніх.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uk-UA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Принципи </a:t>
            </a: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uk-UA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 частина побудована з дотриманням принципів </a:t>
            </a:r>
            <a:r>
              <a:rPr lang="en-US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Розділення відповідальності між шістьма проєктами, використання інтерфейсів для сервісів та впровадження </a:t>
            </a:r>
            <a:r>
              <a:rPr lang="uk-UA" sz="16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залежностей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через вбудований контейнер </a:t>
            </a:r>
            <a:r>
              <a:rPr lang="en-US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ASP.NET Core.</a:t>
            </a:r>
            <a:endParaRPr lang="uk-UA" sz="1600" dirty="0">
              <a:solidFill>
                <a:schemeClr val="tx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Repository Pattern</a:t>
            </a:r>
            <a:r>
              <a:rPr lang="uk-UA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до бази даних </a:t>
            </a:r>
            <a:r>
              <a:rPr lang="uk-UA" sz="16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інкапсульовано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через репозиторії, бізнес-логіка працює через інтерфейси та не залежить від конкретної реалізації.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Factory Pattern</a:t>
            </a:r>
            <a:r>
              <a:rPr lang="uk-UA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 воркерів створює ізольований контейнер компонента ШІ на кожну нову сесію та знищує його після завершення.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Strategy Pattern</a:t>
            </a:r>
            <a:r>
              <a:rPr lang="uk-UA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Підбір питань для сесії визначається параметром </a:t>
            </a:r>
            <a:r>
              <a:rPr lang="en-US" sz="16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weakTopicRatio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співвідношення питань зі слабких тем та загального банку змінюється </a:t>
            </a:r>
            <a:r>
              <a:rPr lang="uk-UA" sz="16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динамічно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Middleware Pattern</a:t>
            </a:r>
            <a:r>
              <a:rPr lang="uk-UA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Автентифікація, авторизація та обробка помилок реалізовані як окремі компоненти конвеєра запитів </a:t>
            </a:r>
            <a:r>
              <a:rPr lang="en-US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ASP.NET Core.</a:t>
            </a:r>
            <a:endParaRPr lang="uk-UA" sz="1600" dirty="0">
              <a:solidFill>
                <a:schemeClr val="tx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-"/>
            </a:pP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Soft Delete Pattern</a:t>
            </a:r>
            <a:r>
              <a:rPr lang="uk-UA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Видалені питання позначаються прапорцем </a:t>
            </a:r>
            <a:r>
              <a:rPr lang="en-US" sz="1600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IsDeleted</a:t>
            </a:r>
            <a:r>
              <a:rPr lang="en-US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без фізичного видалення з бази даних.</a:t>
            </a:r>
          </a:p>
          <a:p>
            <a:pPr marL="0" lvl="0" indent="0">
              <a:buNone/>
            </a:pP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3EFBDDF8-6177-623A-9E93-A817B983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D6E432CE-2C54-5330-F1A1-57520D657A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567" y="-21681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pic>
        <p:nvPicPr>
          <p:cNvPr id="115" name="Google Shape;115;p20">
            <a:extLst>
              <a:ext uri="{FF2B5EF4-FFF2-40B4-BE49-F238E27FC236}">
                <a16:creationId xmlns:a16="http://schemas.microsoft.com/office/drawing/2014/main" id="{680D8AAB-4A6C-DCFD-587D-40698EB384D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0042" y="32737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74F281-A60E-411F-69B7-F03CF0080076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A12F81-CCC5-18B5-7A8A-C547D85B64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14487"/>
            <a:ext cx="7191299" cy="43234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3694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8F4FA625-8D60-7D5E-6160-96C3466B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7D4D44F5-8843-36E4-96AE-BB218B522C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Алгоритм оцінювання відповіді</a:t>
            </a:r>
            <a:endParaRPr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Google Shape;121;p21">
                <a:extLst>
                  <a:ext uri="{FF2B5EF4-FFF2-40B4-BE49-F238E27FC236}">
                    <a16:creationId xmlns:a16="http://schemas.microsoft.com/office/drawing/2014/main" id="{82113A7C-2009-E3F6-4983-39FF496BB14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57640" y="678302"/>
                <a:ext cx="8520600" cy="3354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uk-UA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Оцінювання відбувається у </a:t>
                </a:r>
                <a:r>
                  <a:rPr lang="uk-UA" sz="1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worker</a:t>
                </a:r>
                <a:r>
                  <a:rPr lang="uk-UA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-контейнері після кожної відповіді користувача. LLM повертає два незалежних показники у діапазоні 0-100: точність та повноту відповіді.</a:t>
                </a:r>
                <a:endPara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>
                  <a:buNone/>
                </a:pP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>
                  <a:buNone/>
                </a:pP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Symbol" panose="05050102010706020507" pitchFamily="18" charset="2"/>
                  <a:buChar char="-"/>
                </a:pPr>
                <a:r>
                  <a:rPr lang="uk-UA" sz="1100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 </a:t>
                </a:r>
                <a:r>
                  <a:rPr lang="uk-UA" sz="1100" dirty="0" err="1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Correctness</a:t>
                </a:r>
                <a:r>
                  <a:rPr lang="uk-UA" sz="1100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технічна точність відповіді: чи є вона </a:t>
                </a:r>
                <a:r>
                  <a:rPr lang="uk-UA" sz="1100" dirty="0" err="1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фактологічно</a:t>
                </a:r>
                <a:r>
                  <a:rPr lang="uk-UA" sz="1100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правильною і не містить критичних помилок;</a:t>
                </a:r>
              </a:p>
              <a:p>
                <a:pPr marL="285750" indent="-28575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Symbol" panose="05050102010706020507" pitchFamily="18" charset="2"/>
                  <a:buChar char="-"/>
                </a:pPr>
                <a:r>
                  <a:rPr lang="uk-UA" sz="1100" dirty="0" err="1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Completeness</a:t>
                </a:r>
                <a:r>
                  <a:rPr lang="uk-UA" sz="1100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повнота відповіді: чи покриває вона всі ключові пункти  еталонної відповіді.</a:t>
                </a:r>
                <a:endParaRPr lang="en-US" sz="1100" dirty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sz="1100" dirty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uk-UA" sz="1100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Вага 0.6 для </a:t>
                </a:r>
                <a:r>
                  <a:rPr lang="uk-UA" sz="1100" dirty="0" err="1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Correctness</a:t>
                </a:r>
                <a:r>
                  <a:rPr lang="uk-UA" sz="1100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і 0.4 для </a:t>
                </a:r>
                <a:r>
                  <a:rPr lang="uk-UA" sz="1100" dirty="0" err="1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Completeness</a:t>
                </a:r>
                <a:r>
                  <a:rPr lang="uk-UA" sz="1100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відображає пріоритет технічної правильності над повнотою, помилкова, але розгорнута відповідь є гіршою за коротку, але точну. Результат округлюється вниз до цілого числа. </a:t>
                </a:r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sz="1100" dirty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r>
                  <a:rPr lang="uk-UA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основі цих двох показників також приймається рішення про генерацію </a:t>
                </a:r>
                <a:r>
                  <a:rPr lang="uk-UA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follow-up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k-UA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питання.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sz="1300">
                          <a:latin typeface="Cambria Math" panose="02040503050406030204" pitchFamily="18" charset="0"/>
                        </a:rPr>
                        <m:t>𝐹𝑜𝑙𝑙𝑜𝑤𝑈𝑝</m:t>
                      </m:r>
                      <m:r>
                        <a:rPr lang="uk-UA" sz="130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"/>
                          <m:ctrlPr>
                            <a:rPr lang="uk-UA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sz="13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uk-UA" sz="1300">
                                  <a:latin typeface="Cambria Math" panose="02040503050406030204" pitchFamily="18" charset="0"/>
                                </a:rPr>
                                <m:t>1, якщо </m:t>
                              </m:r>
                              <m:d>
                                <m:dPr>
                                  <m:ctrlPr>
                                    <a:rPr lang="uk-UA" sz="1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uk-UA" sz="1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uk-UA" sz="1300">
                                          <a:latin typeface="Cambria Math" panose="02040503050406030204" pitchFamily="18" charset="0"/>
                                        </a:rPr>
                                        <m:t>𝐶𝑜𝑟𝑟𝑒𝑐𝑡𝑛𝑒𝑠𝑠</m:t>
                                      </m:r>
                                      <m:r>
                                        <a:rPr lang="uk-UA" sz="1300">
                                          <a:latin typeface="Cambria Math" panose="02040503050406030204" pitchFamily="18" charset="0"/>
                                        </a:rPr>
                                        <m:t> &lt; 60</m:t>
                                      </m:r>
                                    </m:e>
                                  </m:d>
                                  <m:r>
                                    <a:rPr lang="uk-UA" sz="1300">
                                      <a:latin typeface="Cambria Math" panose="02040503050406030204" pitchFamily="18" charset="0"/>
                                    </a:rPr>
                                    <m:t>𝑂𝑅</m:t>
                                  </m:r>
                                  <m:r>
                                    <a:rPr lang="uk-UA" sz="13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uk-UA" sz="1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uk-UA" sz="1300">
                                          <a:latin typeface="Cambria Math" panose="02040503050406030204" pitchFamily="18" charset="0"/>
                                        </a:rPr>
                                        <m:t>𝐶𝑜𝑚𝑝𝑙𝑒𝑡𝑒𝑛𝑒𝑠𝑠</m:t>
                                      </m:r>
                                      <m:r>
                                        <a:rPr lang="uk-UA" sz="1300">
                                          <a:latin typeface="Cambria Math" panose="02040503050406030204" pitchFamily="18" charset="0"/>
                                        </a:rPr>
                                        <m:t> &lt; 65</m:t>
                                      </m:r>
                                    </m:e>
                                  </m:d>
                                </m:e>
                              </m:d>
                            </m:e>
                            <m:e>
                              <m:r>
                                <a:rPr lang="uk-UA" sz="1300">
                                  <a:latin typeface="Cambria Math" panose="02040503050406030204" pitchFamily="18" charset="0"/>
                                </a:rPr>
                                <m:t>0, якщо </m:t>
                              </m:r>
                              <m:d>
                                <m:dPr>
                                  <m:ctrlPr>
                                    <a:rPr lang="uk-UA" sz="1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uk-UA" sz="1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uk-UA" sz="1300">
                                          <a:latin typeface="Cambria Math" panose="02040503050406030204" pitchFamily="18" charset="0"/>
                                        </a:rPr>
                                        <m:t>𝐶𝑜𝑟𝑟𝑒𝑐𝑡𝑛𝑒𝑠𝑠</m:t>
                                      </m:r>
                                      <m:r>
                                        <a:rPr lang="uk-UA" sz="1300">
                                          <a:latin typeface="Cambria Math" panose="02040503050406030204" pitchFamily="18" charset="0"/>
                                        </a:rPr>
                                        <m:t>≥ 60</m:t>
                                      </m:r>
                                    </m:e>
                                  </m:d>
                                  <m:r>
                                    <a:rPr lang="uk-UA" sz="13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uk-UA" sz="1300">
                                      <a:latin typeface="Cambria Math" panose="02040503050406030204" pitchFamily="18" charset="0"/>
                                    </a:rPr>
                                    <m:t>𝐴𝑁𝐷</m:t>
                                  </m:r>
                                  <m:r>
                                    <a:rPr lang="uk-UA" sz="130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uk-UA" sz="1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uk-UA" sz="1300">
                                          <a:latin typeface="Cambria Math" panose="02040503050406030204" pitchFamily="18" charset="0"/>
                                        </a:rPr>
                                        <m:t>𝐶𝑜𝑚𝑝𝑙𝑒𝑡𝑒𝑛𝑒𝑠𝑠</m:t>
                                      </m:r>
                                      <m:r>
                                        <a:rPr lang="uk-UA" sz="1300">
                                          <a:latin typeface="Cambria Math" panose="02040503050406030204" pitchFamily="18" charset="0"/>
                                        </a:rPr>
                                        <m:t>≥ 65</m:t>
                                      </m:r>
                                    </m:e>
                                  </m:d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uk-UA" sz="13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dirty="0"/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sz="1100" dirty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1" name="Google Shape;121;p21">
                <a:extLst>
                  <a:ext uri="{FF2B5EF4-FFF2-40B4-BE49-F238E27FC236}">
                    <a16:creationId xmlns:a16="http://schemas.microsoft.com/office/drawing/2014/main" id="{82113A7C-2009-E3F6-4983-39FF496BB14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7640" y="678302"/>
                <a:ext cx="8520600" cy="335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1CF09406-380A-F123-8380-34243F6006A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33BEA9-03BC-5826-02BE-7840384E923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F4ED38-CBDE-0EBE-5EA5-9E529C3D719F}"/>
                  </a:ext>
                </a:extLst>
              </p:cNvPr>
              <p:cNvSpPr txBox="1"/>
              <p:nvPr/>
            </p:nvSpPr>
            <p:spPr>
              <a:xfrm>
                <a:off x="1836825" y="1201825"/>
                <a:ext cx="53848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uk-UA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uk-UA" i="1">
                          <a:latin typeface="Cambria Math" panose="02040503050406030204" pitchFamily="18" charset="0"/>
                        </a:rPr>
                        <m:t>𝑓𝑙𝑜𝑜𝑟</m:t>
                      </m:r>
                      <m:d>
                        <m:dPr>
                          <m:ctrlPr>
                            <a:rPr lang="uk-U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k-UA" i="0">
                              <a:latin typeface="Cambria Math" panose="02040503050406030204" pitchFamily="18" charset="0"/>
                            </a:rPr>
                            <m:t>0.6 × 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𝐶𝑜𝑟𝑟𝑒𝑐𝑡𝑛𝑒𝑠𝑠</m:t>
                          </m:r>
                          <m:r>
                            <a:rPr lang="uk-UA" i="0">
                              <a:latin typeface="Cambria Math" panose="02040503050406030204" pitchFamily="18" charset="0"/>
                            </a:rPr>
                            <m:t> + 0.4 × </m:t>
                          </m:r>
                          <m:r>
                            <a:rPr lang="uk-UA" i="1">
                              <a:latin typeface="Cambria Math" panose="02040503050406030204" pitchFamily="18" charset="0"/>
                            </a:rPr>
                            <m:t>𝐶𝑜𝑚𝑝𝑙𝑒𝑡𝑒𝑛𝑒𝑠𝑠</m:t>
                          </m:r>
                        </m:e>
                      </m:d>
                    </m:oMath>
                  </m:oMathPara>
                </a14:m>
                <a:endParaRPr lang="uk-UA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F4ED38-CBDE-0EBE-5EA5-9E529C3D7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825" y="1201825"/>
                <a:ext cx="5384800" cy="307777"/>
              </a:xfrm>
              <a:prstGeom prst="rect">
                <a:avLst/>
              </a:prstGeom>
              <a:blipFill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091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16FECF43-F927-B95F-D445-ED88879B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4BF07014-31F6-0732-386F-89F09A017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Алгоритм підбору питань</a:t>
            </a:r>
            <a:endParaRPr sz="3200" dirty="0"/>
          </a:p>
        </p:txBody>
      </p:sp>
      <p:sp>
        <p:nvSpPr>
          <p:cNvPr id="121" name="Google Shape;121;p21">
            <a:extLst>
              <a:ext uri="{FF2B5EF4-FFF2-40B4-BE49-F238E27FC236}">
                <a16:creationId xmlns:a16="http://schemas.microsoft.com/office/drawing/2014/main" id="{93DC82D1-3D06-B919-B97C-CF787E03F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5069" y="563615"/>
            <a:ext cx="4386931" cy="44651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При запуску кожної нової сесії клас </a:t>
            </a:r>
            <a:r>
              <a:rPr lang="en-US" sz="11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QuestionSelectionService</a:t>
            </a:r>
            <a:r>
              <a:rPr lang="en-US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формує персоналізований набір питань з двох джерел.</a:t>
            </a:r>
          </a:p>
          <a:p>
            <a:pPr marL="114300" indent="0">
              <a:buNone/>
            </a:pPr>
            <a:endParaRPr lang="uk-UA" sz="11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uk-UA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Спочатку визначається кількість питань зі слабких тем користувача - тем, у яких точність відповідей у попередніх сесіях була нижчою за поріг. </a:t>
            </a:r>
          </a:p>
          <a:p>
            <a:pPr marL="114300" indent="0">
              <a:buNone/>
            </a:pPr>
            <a:r>
              <a:rPr lang="uk-UA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Співвідношення між ними задається параметром </a:t>
            </a:r>
            <a:r>
              <a:rPr lang="en-US" sz="11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weakTopicRatio</a:t>
            </a:r>
            <a:r>
              <a:rPr lang="en-US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при старті сесії.</a:t>
            </a:r>
          </a:p>
          <a:p>
            <a:pPr marL="114300" indent="0">
              <a:buNone/>
            </a:pPr>
            <a:endParaRPr lang="uk-UA" sz="11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uk-UA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Слабкі теми вибираються з </a:t>
            </a:r>
            <a:r>
              <a:rPr lang="uk-UA" sz="11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пріоритизацією</a:t>
            </a:r>
            <a:r>
              <a:rPr lang="uk-UA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за датою наступного повторення, питання, що давно не повторювались, отримують перевагу. </a:t>
            </a:r>
          </a:p>
          <a:p>
            <a:pPr marL="114300" indent="0">
              <a:buNone/>
            </a:pPr>
            <a:endParaRPr lang="uk-UA" sz="11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uk-UA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Якщо слабких тем недостатньо, дефіцит автоматично компенсується звичайними питаннями з каталогу.</a:t>
            </a:r>
          </a:p>
          <a:p>
            <a:pPr marL="114300" indent="0">
              <a:buNone/>
            </a:pPr>
            <a:endParaRPr lang="uk-UA" sz="11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uk-UA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Звичайні питання фільтруються за категорією, рівнем складності та тегами відповідно до профілю користувача. </a:t>
            </a:r>
          </a:p>
          <a:p>
            <a:pPr marL="114300" indent="0">
              <a:buNone/>
            </a:pPr>
            <a:endParaRPr lang="uk-UA" sz="11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uk-UA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Фільтрація за тегами є </a:t>
            </a:r>
            <a:r>
              <a:rPr lang="uk-UA" sz="1100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опціональною</a:t>
            </a:r>
            <a:r>
              <a:rPr lang="uk-UA" sz="11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Відібрані питання з обох джерел об'єднуються та перемішуються перед передачею у сесію.</a:t>
            </a:r>
          </a:p>
          <a:p>
            <a:pPr marL="0" indent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100" dirty="0">
              <a:solidFill>
                <a:schemeClr val="tx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13DA575B-CCC4-3EFD-E8DA-AD2DC9512D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706" y="4359951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64055D-3140-1C36-9523-3A56C5636D4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16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E9B84D-6456-A70A-D1F0-DD20D07637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945" y="210813"/>
            <a:ext cx="1891741" cy="47033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735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8016" y="10593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17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BD4919-F3A1-C237-B77A-10ACF1906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356" y="896537"/>
            <a:ext cx="4035287" cy="19125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27C49E-55A9-F084-E742-5E3D0AD9E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888" y="3017895"/>
            <a:ext cx="4035287" cy="18962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B7F19B-CEC4-5460-C4F0-FA47879C8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8770" y="3017895"/>
            <a:ext cx="4016494" cy="19125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93DFD91-0782-AF93-C672-17C3322D9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97162F49-5968-9496-83F5-0BF0EAF67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2339DBA0-F321-C3FA-5483-F62D8452C9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8016" y="10593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72A7B4-C3CC-A8C5-0552-5E82B21322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18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1A943A-B06E-5586-A7B2-4B2B5EAB42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308"/>
          <a:stretch/>
        </p:blipFill>
        <p:spPr bwMode="auto">
          <a:xfrm>
            <a:off x="355599" y="778086"/>
            <a:ext cx="4501253" cy="1880626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4073A9-80D0-1AB2-CD3F-DEDCEF879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599" y="2772617"/>
            <a:ext cx="4501253" cy="21415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C2559ED-4061-23EC-5D08-3C43EAC90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4184" y="1185255"/>
            <a:ext cx="3006724" cy="31200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34475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147606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Розроблена система реалізує повний цикл підготовки до технічної співбесіди та може використовуватись як самостійний інструмент для індивідуальної підготовки, так і як складова корпоративних програм навчання. </a:t>
            </a:r>
          </a:p>
          <a:p>
            <a:pPr marL="114300" indent="0" algn="just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Практична цінність підтверджується реалізацією всього запланованого функціоналу: адаптивного підбору питань, оцінювання відповідей засобами штучного інтелекту та механізму відстеження слабких тем. Подальший розвиток може включати голосовий режим, локалізацію інтерфейсу, інтеграцію потужніших мовних моделей та розширену аналітику прогресу користувача.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19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389BAEC19D063A44B14844E39B3837F8" ma:contentTypeVersion="5" ma:contentTypeDescription="Створення нового документа." ma:contentTypeScope="" ma:versionID="6ec09887ec804c97946760d07adeab09">
  <xsd:schema xmlns:xsd="http://www.w3.org/2001/XMLSchema" xmlns:xs="http://www.w3.org/2001/XMLSchema" xmlns:p="http://schemas.microsoft.com/office/2006/metadata/properties" xmlns:ns3="d23fbac8-d719-4769-8f0e-b3e2abed2069" targetNamespace="http://schemas.microsoft.com/office/2006/metadata/properties" ma:root="true" ma:fieldsID="08933d875195ef9f3204cfde2a2951cf" ns3:_="">
    <xsd:import namespace="d23fbac8-d719-4769-8f0e-b3e2abed206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3fbac8-d719-4769-8f0e-b3e2abed2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DEC4F-63AF-4DDC-9621-824EE68952E5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d23fbac8-d719-4769-8f0e-b3e2abed2069"/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FA6A635-BE67-4D3D-BEC1-6856CC7FA0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3fbac8-d719-4769-8f0e-b3e2abed20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C53C31-26E5-4F7D-A748-0FA4B8DAD0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1107</TotalTime>
  <Words>1380</Words>
  <Application>Microsoft Office PowerPoint</Application>
  <PresentationFormat>Екран (16:9)</PresentationFormat>
  <Paragraphs>184</Paragraphs>
  <Slides>19</Slides>
  <Notes>19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19</vt:i4>
      </vt:variant>
    </vt:vector>
  </HeadingPairs>
  <TitlesOfParts>
    <vt:vector size="27" baseType="lpstr">
      <vt:lpstr>Times New Roman</vt:lpstr>
      <vt:lpstr>Open Sans</vt:lpstr>
      <vt:lpstr>Economica</vt:lpstr>
      <vt:lpstr>Calibri</vt:lpstr>
      <vt:lpstr>Cambria Math</vt:lpstr>
      <vt:lpstr>Symbol</vt:lpstr>
      <vt:lpstr>Arial</vt:lpstr>
      <vt:lpstr>Шаблон презентації кваліфікаційної роботи магістрів</vt:lpstr>
      <vt:lpstr>Програмна система проходження технічних співбесід з ШІ переформулюванням</vt:lpstr>
      <vt:lpstr>Мета роботи</vt:lpstr>
      <vt:lpstr>Аналіз існуючих рішень </vt:lpstr>
      <vt:lpstr>Аналіз проблеми</vt:lpstr>
      <vt:lpstr>Аналіз проблеми</vt:lpstr>
      <vt:lpstr>Постановка задачі та опис системи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Архітектура створенного програмного забезпечення</vt:lpstr>
      <vt:lpstr>Інструменти, мови програмування, фреймворки</vt:lpstr>
      <vt:lpstr>Процес розробки</vt:lpstr>
      <vt:lpstr>Дизайн системи</vt:lpstr>
      <vt:lpstr>Дизайн системи</vt:lpstr>
      <vt:lpstr>Алгоритм оцінювання відповіді</vt:lpstr>
      <vt:lpstr>Алгоритм підбору питань</vt:lpstr>
      <vt:lpstr>Інтерфейс користувача </vt:lpstr>
      <vt:lpstr>Інтерфейс користувача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Анатолій Борщ</dc:creator>
  <cp:lastModifiedBy>Анатолій Борщ</cp:lastModifiedBy>
  <cp:revision>2</cp:revision>
  <dcterms:created xsi:type="dcterms:W3CDTF">2026-06-08T21:46:46Z</dcterms:created>
  <dcterms:modified xsi:type="dcterms:W3CDTF">2026-06-10T04:58:57Z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0x010100389BAEC19D063A44B14844E39B3837F8</vt:lpwstr>
  </property>
</Properties>
</file>